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9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65" d="100"/>
          <a:sy n="65" d="100"/>
        </p:scale>
        <p:origin x="70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36"/>
          </a:solidFill>
          <a:ln>
            <a:solidFill>
              <a:srgbClr val="1220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38B8F"/>
          </a:solidFill>
          <a:ln>
            <a:solidFill>
              <a:srgbClr val="238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9DCDCF"/>
                </a:solidFill>
              </a:defRPr>
            </a:pPr>
            <a:r>
              <a:t>CAPSTONE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554480"/>
            <a:ext cx="5943600" cy="8002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600" b="1">
                <a:solidFill>
                  <a:srgbClr val="FFFFFF"/>
                </a:solidFill>
              </a:defRPr>
            </a:pPr>
            <a:r>
              <a:rPr dirty="0"/>
              <a:t>Mira</a:t>
            </a:r>
            <a:r>
              <a:rPr lang="en-IN" dirty="0"/>
              <a:t> Capstone Project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804672" y="3246120"/>
            <a:ext cx="8961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CDD8E5"/>
                </a:solidFill>
              </a:defRPr>
            </a:pPr>
            <a:r>
              <a:t>Grounded • Routed • Multi-Agent Project Intelligence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4160520"/>
            <a:ext cx="2834640" cy="36576"/>
          </a:xfrm>
          <a:prstGeom prst="rect">
            <a:avLst/>
          </a:prstGeom>
          <a:solidFill>
            <a:srgbClr val="238B8F"/>
          </a:solidFill>
          <a:ln>
            <a:solidFill>
              <a:srgbClr val="238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4389120"/>
            <a:ext cx="6858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rPr dirty="0"/>
              <a:t>ABCDE Ltd. AI Adoption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19472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B1BECF"/>
                </a:solidFill>
              </a:defRPr>
            </a:pPr>
            <a:r>
              <a:t>Agentic AI for Project Managers &amp; Technical Program Managers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08076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9DCDCF"/>
                </a:solidFill>
              </a:defRPr>
            </a:pPr>
            <a:r>
              <a:t>Capstone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66AD"/>
          </a:solidFill>
          <a:ln>
            <a:solidFill>
              <a:srgbClr val="2A66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22036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82880"/>
            <a:ext cx="2743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A66AD"/>
                </a:solidFill>
              </a:defRPr>
            </a:pPr>
            <a: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C6978"/>
                </a:solidFill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34747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325880"/>
            <a:ext cx="73152" cy="1965960"/>
          </a:xfrm>
          <a:prstGeom prst="rect">
            <a:avLst/>
          </a:prstGeom>
          <a:solidFill>
            <a:srgbClr val="2A66AD"/>
          </a:solidFill>
          <a:ln>
            <a:solidFill>
              <a:srgbClr val="2A66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490472"/>
            <a:ext cx="306323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22036"/>
                </a:solidFill>
              </a:defRPr>
            </a:pPr>
            <a:r>
              <a:t>THE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47672"/>
            <a:ext cx="3063239" cy="1216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C6978"/>
                </a:solidFill>
              </a:defRPr>
            </a:pPr>
            <a:r>
              <a:t>PMs spend time consolidating plans, risks, milestones and status data before they can make decisions.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325880"/>
            <a:ext cx="34747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70832" y="1325880"/>
            <a:ext cx="73152" cy="1965960"/>
          </a:xfrm>
          <a:prstGeom prst="rect">
            <a:avLst/>
          </a:prstGeom>
          <a:solidFill>
            <a:srgbClr val="238B8F"/>
          </a:solidFill>
          <a:ln>
            <a:solidFill>
              <a:srgbClr val="238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9432" y="1490472"/>
            <a:ext cx="306323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22036"/>
                </a:solidFill>
              </a:defRPr>
            </a:pPr>
            <a:r>
              <a:t>THE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1947672"/>
            <a:ext cx="3063239" cy="1216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C6978"/>
                </a:solidFill>
              </a:defRPr>
            </a:pPr>
            <a:r>
              <a:t>Mira uses an AI router and specialist agents to answer project questions from controlled project data.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5864" y="1325880"/>
            <a:ext cx="34747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55864" y="1325880"/>
            <a:ext cx="73152" cy="1965960"/>
          </a:xfrm>
          <a:prstGeom prst="rect">
            <a:avLst/>
          </a:prstGeom>
          <a:solidFill>
            <a:srgbClr val="39845B"/>
          </a:solidFill>
          <a:ln>
            <a:solidFill>
              <a:srgbClr val="39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84464" y="1490472"/>
            <a:ext cx="306323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22036"/>
                </a:solidFill>
              </a:defRPr>
            </a:pPr>
            <a:r>
              <a:t>THE VALUE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1947672"/>
            <a:ext cx="3063239" cy="1216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C6978"/>
                </a:solidFill>
              </a:defRPr>
            </a:pPr>
            <a:r>
              <a:t>Faster reporting, consistent analysis, and stronger protection against unsupported project facts.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79476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A66AD"/>
                </a:solidFill>
              </a:defRPr>
            </a:pPr>
            <a:r>
              <a:t>Capstone objective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16052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122036"/>
                </a:solidFill>
              </a:defRPr>
            </a:pPr>
            <a:r>
              <a:t>Build a practical project-intelligence assistant that is useful to PM/TPM workflows without sacrificing grounding and traceability.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53212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C6978"/>
                </a:solidFill>
              </a:defRPr>
            </a:pPr>
            <a:r>
              <a:t>Core capabilities: Project Plan Generation • Risk Assessment • Weekly Status Report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66AD"/>
          </a:solidFill>
          <a:ln>
            <a:solidFill>
              <a:srgbClr val="2A66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22036"/>
                </a:solidFill>
              </a:defRPr>
            </a:pPr>
            <a:r>
              <a:t>Problem Statement &amp; Success Criteria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82880"/>
            <a:ext cx="2743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A66AD"/>
                </a:solidFill>
              </a:defRPr>
            </a:pPr>
            <a:r>
              <a:t>BUSINESS NEED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C6978"/>
                </a:solidFill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22036"/>
                </a:solidFill>
              </a:defRPr>
            </a:pPr>
            <a:r>
              <a:t>PM/TPM pain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5577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32D3A"/>
                </a:solidFill>
              </a:defRPr>
            </a:pPr>
            <a:r>
              <a:t>Project information is distributed across plans, risk registers and task boards.</a:t>
            </a:r>
          </a:p>
          <a:p>
            <a:pPr>
              <a:spcAft>
                <a:spcPts val="1200"/>
              </a:spcAft>
              <a:defRPr sz="1500">
                <a:solidFill>
                  <a:srgbClr val="232D3A"/>
                </a:solidFill>
              </a:defRPr>
            </a:pPr>
            <a:r>
              <a:t>Weekly reporting requires repeated manual consolidation and interpretation.</a:t>
            </a:r>
          </a:p>
          <a:p>
            <a:pPr>
              <a:spcAft>
                <a:spcPts val="1200"/>
              </a:spcAft>
              <a:defRPr sz="1500">
                <a:solidFill>
                  <a:srgbClr val="232D3A"/>
                </a:solidFill>
              </a:defRPr>
            </a:pPr>
            <a:r>
              <a:t>Generative AI can introduce fabricated milestones, risks or task statuses if it is not grounded.</a:t>
            </a:r>
          </a:p>
          <a:p>
            <a:pPr>
              <a:spcAft>
                <a:spcPts val="1200"/>
              </a:spcAft>
              <a:defRPr sz="1500">
                <a:solidFill>
                  <a:srgbClr val="232D3A"/>
                </a:solidFill>
              </a:defRPr>
            </a:pPr>
            <a:r>
              <a:t>Decision-makers need concise answers that remain traceable to the project source of truth.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280160"/>
            <a:ext cx="4709160" cy="448056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86600" y="1600200"/>
            <a:ext cx="4023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A66AD"/>
                </a:solidFill>
              </a:defRPr>
            </a:pPr>
            <a:r>
              <a:t>Success criteria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2148840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22036"/>
                </a:solidFill>
              </a:defRPr>
            </a:pPr>
            <a:r>
              <a:t>Grounded plans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2148840"/>
            <a:ext cx="24688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C6978"/>
                </a:solidFill>
              </a:defRPr>
            </a:pPr>
            <a:r>
              <a:t>Milestones trace to approved project data.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2953512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22036"/>
                </a:solidFill>
              </a:defRPr>
            </a:pPr>
            <a:r>
              <a:t>Relevant risks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2953512"/>
            <a:ext cx="24688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C6978"/>
                </a:solidFill>
              </a:defRPr>
            </a:pPr>
            <a:r>
              <a:t>Risks come from the official risk matrix.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3758184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22036"/>
                </a:solidFill>
              </a:defRPr>
            </a:pPr>
            <a:r>
              <a:t>Accurate status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3758184"/>
            <a:ext cx="24688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C6978"/>
                </a:solidFill>
              </a:defRPr>
            </a:pPr>
            <a:r>
              <a:t>Task counts match the Kanban source.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4562856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22036"/>
                </a:solidFill>
              </a:defRPr>
            </a:pPr>
            <a:r>
              <a:t>Safe behavior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4562856"/>
            <a:ext cx="24688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C6978"/>
                </a:solidFill>
              </a:defRPr>
            </a:pPr>
            <a:r>
              <a:t>Unsupported facts are not invented.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66AD"/>
          </a:solidFill>
          <a:ln>
            <a:solidFill>
              <a:srgbClr val="2A66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22036"/>
                </a:solidFill>
              </a:defRPr>
            </a:pPr>
            <a:r>
              <a:t>Project Data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82880"/>
            <a:ext cx="2743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A66AD"/>
                </a:solidFill>
              </a:defRPr>
            </a:pPr>
            <a:r>
              <a:t>GROUNDING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C6978"/>
                </a:solidFill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50749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325880"/>
            <a:ext cx="73152" cy="1691640"/>
          </a:xfrm>
          <a:prstGeom prst="rect">
            <a:avLst/>
          </a:prstGeom>
          <a:solidFill>
            <a:srgbClr val="2A66AD"/>
          </a:solidFill>
          <a:ln>
            <a:solidFill>
              <a:srgbClr val="2A66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490472"/>
            <a:ext cx="46634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22036"/>
                </a:solidFill>
              </a:defRPr>
            </a:pPr>
            <a:r>
              <a:t>PROJECT DESCRIPTION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47672"/>
            <a:ext cx="4663440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C6978"/>
                </a:solidFill>
              </a:defRPr>
            </a:pPr>
            <a:r>
              <a:t>ABCDE Ltd. AI Adoption Project</a:t>
            </a:r>
            <a:br/>
            <a:r>
              <a:t>Six-month delivery context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0749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325880"/>
            <a:ext cx="73152" cy="1691640"/>
          </a:xfrm>
          <a:prstGeom prst="rect">
            <a:avLst/>
          </a:prstGeom>
          <a:solidFill>
            <a:srgbClr val="238B8F"/>
          </a:solidFill>
          <a:ln>
            <a:solidFill>
              <a:srgbClr val="238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490472"/>
            <a:ext cx="46634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22036"/>
                </a:solidFill>
              </a:defRPr>
            </a:pPr>
            <a:r>
              <a:t>TIMELINE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947672"/>
            <a:ext cx="4663440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C6978"/>
                </a:solidFill>
              </a:defRPr>
            </a:pPr>
            <a:r>
              <a:t>8 official milestones</a:t>
            </a:r>
            <a:br/>
            <a:r>
              <a:t>IDs + start/end dates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383280"/>
            <a:ext cx="50749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3383280"/>
            <a:ext cx="73152" cy="1691640"/>
          </a:xfrm>
          <a:prstGeom prst="rect">
            <a:avLst/>
          </a:prstGeom>
          <a:solidFill>
            <a:srgbClr val="C6892A"/>
          </a:solidFill>
          <a:ln>
            <a:solidFill>
              <a:srgbClr val="C68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547872"/>
            <a:ext cx="46634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22036"/>
                </a:solidFill>
              </a:defRPr>
            </a:pPr>
            <a:r>
              <a:t>RISK MATRIX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05072"/>
            <a:ext cx="4663440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C6978"/>
                </a:solidFill>
              </a:defRPr>
            </a:pPr>
            <a:r>
              <a:t>8 official risks</a:t>
            </a:r>
            <a:br/>
            <a:r>
              <a:t>Impact • likelihood • rating • mitigation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383280"/>
            <a:ext cx="50749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3383280"/>
            <a:ext cx="73152" cy="1691640"/>
          </a:xfrm>
          <a:prstGeom prst="rect">
            <a:avLst/>
          </a:prstGeom>
          <a:solidFill>
            <a:srgbClr val="39845B"/>
          </a:solidFill>
          <a:ln>
            <a:solidFill>
              <a:srgbClr val="39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46520" y="3547872"/>
            <a:ext cx="46634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22036"/>
                </a:solidFill>
              </a:defRPr>
            </a:pPr>
            <a:r>
              <a:t>KANBAN 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005072"/>
            <a:ext cx="4663440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C6978"/>
                </a:solidFill>
              </a:defRPr>
            </a:pPr>
            <a:r>
              <a:t>25 project tasks</a:t>
            </a:r>
            <a:br/>
            <a:r>
              <a:t>Owner • status • due date • milestone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6235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A66AD"/>
                </a:solidFill>
              </a:defRPr>
            </a:pPr>
            <a:r>
              <a:t>Source-of-truth 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5577840"/>
            <a:ext cx="8778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22036"/>
                </a:solidFill>
              </a:defRPr>
            </a:pPr>
            <a:r>
              <a:t>Timeline → milestones   |   Risk matrix → risks   |   Kanban board → task status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053328"/>
            <a:ext cx="10424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C6978"/>
                </a:solidFill>
              </a:defRPr>
            </a:pPr>
            <a:r>
              <a:t>Working dataset note: synthetic replacement used because official course dataset files were unavailable.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66AD"/>
          </a:solidFill>
          <a:ln>
            <a:solidFill>
              <a:srgbClr val="2A66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22036"/>
                </a:solidFill>
              </a:defRPr>
            </a:pPr>
            <a:r>
              <a:t>Solution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82880"/>
            <a:ext cx="2743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A66AD"/>
                </a:solidFill>
              </a:defRPr>
            </a:pPr>
            <a:r>
              <a:t>TECHNICAL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C6978"/>
                </a:solidFill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965960"/>
            <a:ext cx="14173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" y="2148840"/>
            <a:ext cx="127101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22036"/>
                </a:solidFill>
              </a:defRPr>
            </a:pPr>
            <a:r>
              <a:t>Chat Trigger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1720" y="1965960"/>
            <a:ext cx="14173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404872" y="2148840"/>
            <a:ext cx="127101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22036"/>
                </a:solidFill>
              </a:defRPr>
            </a:pPr>
            <a:r>
              <a:t>Edit Fields</a:t>
            </a:r>
            <a:br/>
            <a:r>
              <a:t>Project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965960"/>
            <a:ext cx="14173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16552" y="2148840"/>
            <a:ext cx="127101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22036"/>
                </a:solidFill>
              </a:defRPr>
            </a:pPr>
            <a:r>
              <a:t>Mira Router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965960"/>
            <a:ext cx="14173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45352" y="2148840"/>
            <a:ext cx="127101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22036"/>
                </a:solidFill>
              </a:defRPr>
            </a:pPr>
            <a:r>
              <a:t>Switch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011680" y="2395728"/>
            <a:ext cx="320040" cy="0"/>
          </a:xfrm>
          <a:prstGeom prst="line">
            <a:avLst/>
          </a:prstGeom>
          <a:ln w="19050">
            <a:solidFill>
              <a:srgbClr val="5C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749039" y="2395728"/>
            <a:ext cx="594361" cy="0"/>
          </a:xfrm>
          <a:prstGeom prst="line">
            <a:avLst/>
          </a:prstGeom>
          <a:ln w="19050">
            <a:solidFill>
              <a:srgbClr val="5C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760720" y="2395728"/>
            <a:ext cx="411480" cy="0"/>
          </a:xfrm>
          <a:prstGeom prst="line">
            <a:avLst/>
          </a:prstGeom>
          <a:ln w="19050">
            <a:solidFill>
              <a:srgbClr val="5C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046720" y="1143000"/>
            <a:ext cx="26517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46720" y="1143000"/>
            <a:ext cx="73152" cy="822960"/>
          </a:xfrm>
          <a:prstGeom prst="rect">
            <a:avLst/>
          </a:prstGeom>
          <a:solidFill>
            <a:srgbClr val="2A66AD"/>
          </a:solidFill>
          <a:ln>
            <a:solidFill>
              <a:srgbClr val="2A66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0" y="1353312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22036"/>
                </a:solidFill>
              </a:defRPr>
            </a:pPr>
            <a:r>
              <a:t>Project Plan Agent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7589520" y="1554480"/>
            <a:ext cx="457200" cy="841248"/>
          </a:xfrm>
          <a:prstGeom prst="line">
            <a:avLst/>
          </a:prstGeom>
          <a:ln w="15240">
            <a:solidFill>
              <a:srgbClr val="5C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046720" y="2331720"/>
            <a:ext cx="26517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46720" y="2331720"/>
            <a:ext cx="73152" cy="822960"/>
          </a:xfrm>
          <a:prstGeom prst="rect">
            <a:avLst/>
          </a:prstGeom>
          <a:solidFill>
            <a:srgbClr val="C6892A"/>
          </a:solidFill>
          <a:ln>
            <a:solidFill>
              <a:srgbClr val="C68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0" y="2542032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22036"/>
                </a:solidFill>
              </a:defRPr>
            </a:pPr>
            <a:r>
              <a:t>Risk Assessment Agent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589520" y="2395728"/>
            <a:ext cx="457200" cy="347472"/>
          </a:xfrm>
          <a:prstGeom prst="line">
            <a:avLst/>
          </a:prstGeom>
          <a:ln w="15240">
            <a:solidFill>
              <a:srgbClr val="5C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046720" y="3520440"/>
            <a:ext cx="26517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46720" y="3520440"/>
            <a:ext cx="73152" cy="822960"/>
          </a:xfrm>
          <a:prstGeom prst="rect">
            <a:avLst/>
          </a:prstGeom>
          <a:solidFill>
            <a:srgbClr val="39845B"/>
          </a:solidFill>
          <a:ln>
            <a:solidFill>
              <a:srgbClr val="39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0" y="3730752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22036"/>
                </a:solidFill>
              </a:defRPr>
            </a:pPr>
            <a:r>
              <a:t>Weekly Status Agent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589520" y="2395728"/>
            <a:ext cx="457200" cy="1536192"/>
          </a:xfrm>
          <a:prstGeom prst="line">
            <a:avLst/>
          </a:prstGeom>
          <a:ln w="15240">
            <a:solidFill>
              <a:srgbClr val="5C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046720" y="4617720"/>
            <a:ext cx="2651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2A66AD"/>
                </a:solidFill>
              </a:defRPr>
            </a:pPr>
            <a:r>
              <a:t>OpenAI Chat Models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525780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22036"/>
                </a:solidFill>
              </a:defRPr>
            </a:pPr>
            <a:r>
              <a:t>n8n Executions / Logs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897880"/>
            <a:ext cx="9966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5C6978"/>
                </a:solidFill>
              </a:defRPr>
            </a:pPr>
            <a:r>
              <a:t>Routing pattern: one user request → one capability → one specialist response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3CE2DE4-045C-4AF2-D130-DEDEA0D3B2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771" y="901764"/>
            <a:ext cx="10032259" cy="3861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193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66AD"/>
          </a:solidFill>
          <a:ln>
            <a:solidFill>
              <a:srgbClr val="2A66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22036"/>
                </a:solidFill>
              </a:defRPr>
            </a:pPr>
            <a:r>
              <a:t>Core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82880"/>
            <a:ext cx="2743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A66AD"/>
                </a:solidFill>
              </a:defRPr>
            </a:pPr>
            <a:r>
              <a:t>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C6978"/>
                </a:solidFill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4290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640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2A66AD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23160"/>
            <a:ext cx="2743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22036"/>
                </a:solidFill>
              </a:defRPr>
            </a:pPr>
            <a:r>
              <a:t>Project Plan Generation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246120"/>
            <a:ext cx="27889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C6978"/>
                </a:solidFill>
              </a:defRPr>
            </a:pPr>
            <a:r>
              <a:t>Builds grounded plans using project objectives, workstreams, phases and official milestones.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5074920"/>
            <a:ext cx="1828800" cy="45720"/>
          </a:xfrm>
          <a:prstGeom prst="rect">
            <a:avLst/>
          </a:prstGeom>
          <a:solidFill>
            <a:srgbClr val="2A66AD"/>
          </a:solidFill>
          <a:ln>
            <a:solidFill>
              <a:srgbClr val="2A66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480560" y="1417320"/>
            <a:ext cx="34290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0" y="1737360"/>
            <a:ext cx="640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C6892A"/>
                </a:solidFill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423160"/>
            <a:ext cx="2743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22036"/>
                </a:solidFill>
              </a:defRPr>
            </a:pPr>
            <a:r>
              <a:t>Risk Assessment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246120"/>
            <a:ext cx="27889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C6978"/>
                </a:solidFill>
              </a:defRPr>
            </a:pPr>
            <a:r>
              <a:t>Summarizes official risks while preserving IDs, ratings, mitigations, owners and status.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5074920"/>
            <a:ext cx="1828800" cy="45720"/>
          </a:xfrm>
          <a:prstGeom prst="rect">
            <a:avLst/>
          </a:prstGeom>
          <a:solidFill>
            <a:srgbClr val="C6892A"/>
          </a:solidFill>
          <a:ln>
            <a:solidFill>
              <a:srgbClr val="C68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275320" y="1417320"/>
            <a:ext cx="34290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49640" y="1737360"/>
            <a:ext cx="640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39845B"/>
                </a:solidFill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2423160"/>
            <a:ext cx="2743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22036"/>
                </a:solidFill>
              </a:defRPr>
            </a:pPr>
            <a:r>
              <a:t>Weekly Status 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3246120"/>
            <a:ext cx="27889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C6978"/>
                </a:solidFill>
              </a:defRPr>
            </a:pPr>
            <a:r>
              <a:t>Reports task counts, blocked work, upcoming milestones and key project risks.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49640" y="5074920"/>
            <a:ext cx="1828800" cy="45720"/>
          </a:xfrm>
          <a:prstGeom prst="rect">
            <a:avLst/>
          </a:prstGeom>
          <a:solidFill>
            <a:srgbClr val="39845B"/>
          </a:solidFill>
          <a:ln>
            <a:solidFill>
              <a:srgbClr val="39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66AD"/>
          </a:solidFill>
          <a:ln>
            <a:solidFill>
              <a:srgbClr val="2A66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22036"/>
                </a:solidFill>
              </a:defRPr>
            </a:pPr>
            <a:r>
              <a:t>Grounding &amp; Hallucination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82880"/>
            <a:ext cx="2743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A66AD"/>
                </a:solidFill>
              </a:defRPr>
            </a:pPr>
            <a:r>
              <a:t>RESPONSIBLE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C6978"/>
                </a:solidFill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66928" cy="566928"/>
          </a:xfrm>
          <a:prstGeom prst="roundRect">
            <a:avLst/>
          </a:prstGeom>
          <a:solidFill>
            <a:srgbClr val="2A66AD"/>
          </a:solidFill>
          <a:ln>
            <a:solidFill>
              <a:srgbClr val="2A66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353312"/>
            <a:ext cx="5669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216152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22036"/>
                </a:solidFill>
              </a:defRPr>
            </a:pPr>
            <a:r>
              <a:t>Milestone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1216152"/>
            <a:ext cx="71323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C6978"/>
                </a:solidFill>
              </a:defRPr>
            </a:pPr>
            <a:r>
              <a:t>Generated milestones must trace to the timeline.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48840"/>
            <a:ext cx="566928" cy="566928"/>
          </a:xfrm>
          <a:prstGeom prst="roundRect">
            <a:avLst/>
          </a:prstGeom>
          <a:solidFill>
            <a:srgbClr val="2A66AD"/>
          </a:solidFill>
          <a:ln>
            <a:solidFill>
              <a:srgbClr val="2A66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267712"/>
            <a:ext cx="5669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130552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22036"/>
                </a:solidFill>
              </a:defRPr>
            </a:pPr>
            <a:r>
              <a:t>Risk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2130552"/>
            <a:ext cx="71323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C6978"/>
                </a:solidFill>
              </a:defRPr>
            </a:pPr>
            <a:r>
              <a:t>Only risks in the official risk matrix are used.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063240"/>
            <a:ext cx="566928" cy="566928"/>
          </a:xfrm>
          <a:prstGeom prst="roundRect">
            <a:avLst/>
          </a:prstGeom>
          <a:solidFill>
            <a:srgbClr val="2A66AD"/>
          </a:solidFill>
          <a:ln>
            <a:solidFill>
              <a:srgbClr val="2A66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3182112"/>
            <a:ext cx="5669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044952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22036"/>
                </a:solidFill>
              </a:defRPr>
            </a:pPr>
            <a:r>
              <a:t>Status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3044952"/>
            <a:ext cx="71323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C6978"/>
                </a:solidFill>
              </a:defRPr>
            </a:pPr>
            <a:r>
              <a:t>Task counts and statuses come from the Kanban board.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977639"/>
            <a:ext cx="566928" cy="566928"/>
          </a:xfrm>
          <a:prstGeom prst="roundRect">
            <a:avLst/>
          </a:prstGeom>
          <a:solidFill>
            <a:srgbClr val="2A66AD"/>
          </a:solidFill>
          <a:ln>
            <a:solidFill>
              <a:srgbClr val="2A66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096511"/>
            <a:ext cx="5669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959352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22036"/>
                </a:solidFill>
              </a:defRPr>
            </a:pPr>
            <a:r>
              <a:t>Missing-data 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3959352"/>
            <a:ext cx="71323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C6978"/>
                </a:solidFill>
              </a:defRPr>
            </a:pPr>
            <a:r>
              <a:t>If information is unavailable, Mira says so rather than guessing.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892040"/>
            <a:ext cx="566928" cy="566928"/>
          </a:xfrm>
          <a:prstGeom prst="roundRect">
            <a:avLst/>
          </a:prstGeom>
          <a:solidFill>
            <a:srgbClr val="2A66AD"/>
          </a:solidFill>
          <a:ln>
            <a:solidFill>
              <a:srgbClr val="2A66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5010912"/>
            <a:ext cx="5669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873752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22036"/>
                </a:solidFill>
              </a:defRPr>
            </a:pPr>
            <a:r>
              <a:t>Recommendation boundary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86200" y="4873752"/>
            <a:ext cx="71323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C6978"/>
                </a:solidFill>
              </a:defRPr>
            </a:pPr>
            <a:r>
              <a:t>Recommendations are labeled separately from project facts.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5715000"/>
            <a:ext cx="10332720" cy="530352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88720" y="5852160"/>
            <a:ext cx="9784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B24646"/>
                </a:solidFill>
              </a:defRPr>
            </a:pPr>
            <a:r>
              <a:t>Hallucination test: T024 is intentionally Blocked and must not be reported as completed.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66AD"/>
          </a:solidFill>
          <a:ln>
            <a:solidFill>
              <a:srgbClr val="2A66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22036"/>
                </a:solidFill>
              </a:defRPr>
            </a:pPr>
            <a:r>
              <a:t>Testing &amp;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82880"/>
            <a:ext cx="2743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A66AD"/>
                </a:solidFill>
              </a:defRPr>
            </a:pPr>
            <a:r>
              <a:t>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C6978"/>
                </a:solidFill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122036"/>
                </a:solidFill>
              </a:defRPr>
            </a:pPr>
            <a:r>
              <a:t>12 baseline prompts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C6978"/>
                </a:solidFill>
              </a:defRPr>
            </a:pPr>
            <a:r>
              <a:t>Executed across planning, risks, status, milestones and hallucination checks.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14600"/>
            <a:ext cx="50749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2514600"/>
            <a:ext cx="73152" cy="1188720"/>
          </a:xfrm>
          <a:prstGeom prst="rect">
            <a:avLst/>
          </a:prstGeom>
          <a:solidFill>
            <a:srgbClr val="2A66AD"/>
          </a:solidFill>
          <a:ln>
            <a:solidFill>
              <a:srgbClr val="2A66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679192"/>
            <a:ext cx="46634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22036"/>
                </a:solidFill>
              </a:defRPr>
            </a:pPr>
            <a:r>
              <a:t>Planning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136392"/>
            <a:ext cx="46634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C6978"/>
                </a:solidFill>
              </a:defRPr>
            </a:pPr>
            <a:r>
              <a:t>Project plans, objectives, workstreams and official milestones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514600"/>
            <a:ext cx="50749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63640" y="2514600"/>
            <a:ext cx="73152" cy="1188720"/>
          </a:xfrm>
          <a:prstGeom prst="rect">
            <a:avLst/>
          </a:prstGeom>
          <a:solidFill>
            <a:srgbClr val="C6892A"/>
          </a:solidFill>
          <a:ln>
            <a:solidFill>
              <a:srgbClr val="C68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2679192"/>
            <a:ext cx="46634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22036"/>
                </a:solidFill>
              </a:defRPr>
            </a:pPr>
            <a:r>
              <a:t>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136392"/>
            <a:ext cx="46634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C6978"/>
                </a:solidFill>
              </a:defRPr>
            </a:pPr>
            <a:r>
              <a:t>High-priority risks, mitigations, owners and security/data risks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023360"/>
            <a:ext cx="50749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4023360"/>
            <a:ext cx="73152" cy="1188720"/>
          </a:xfrm>
          <a:prstGeom prst="rect">
            <a:avLst/>
          </a:prstGeom>
          <a:solidFill>
            <a:srgbClr val="39845B"/>
          </a:solidFill>
          <a:ln>
            <a:solidFill>
              <a:srgbClr val="39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4187952"/>
            <a:ext cx="46634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22036"/>
                </a:solidFill>
              </a:defRPr>
            </a:pPr>
            <a:r>
              <a:t>Status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645152"/>
            <a:ext cx="46634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C6978"/>
                </a:solidFill>
              </a:defRPr>
            </a:pPr>
            <a:r>
              <a:t>Weekly report, blocked work, task counts and upcoming milestones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4023360"/>
            <a:ext cx="50749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63640" y="4023360"/>
            <a:ext cx="73152" cy="1188720"/>
          </a:xfrm>
          <a:prstGeom prst="rect">
            <a:avLst/>
          </a:prstGeom>
          <a:solidFill>
            <a:srgbClr val="B24646"/>
          </a:solidFill>
          <a:ln>
            <a:solidFill>
              <a:srgbClr val="B2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92240" y="4187952"/>
            <a:ext cx="46634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22036"/>
                </a:solidFill>
              </a:defRPr>
            </a:pPr>
            <a:r>
              <a:t>Hallucination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645152"/>
            <a:ext cx="46634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C6978"/>
                </a:solidFill>
              </a:defRPr>
            </a:pPr>
            <a:r>
              <a:t>Unsupported milestone + T024 completion check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66928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2A66AD"/>
                </a:solidFill>
              </a:defRPr>
            </a:pPr>
            <a:r>
              <a:t>Evidence retained in repository: baseline test document + test-results.png + observability.png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66AD"/>
          </a:solidFill>
          <a:ln>
            <a:solidFill>
              <a:srgbClr val="2A66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22036"/>
                </a:solidFill>
              </a:defRPr>
            </a:pPr>
            <a:r>
              <a:t>Production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82880"/>
            <a:ext cx="2743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A66AD"/>
                </a:solidFill>
              </a:defRPr>
            </a:pPr>
            <a:r>
              <a:t>MEASUREMENT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C6978"/>
                </a:solidFill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42900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2A66AD"/>
                </a:solidFill>
              </a:defRPr>
            </a:pPr>
            <a:r>
              <a:t>PLAN GROUNDEDNESS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60320"/>
            <a:ext cx="2743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122036"/>
                </a:solidFill>
              </a:defRPr>
            </a:pPr>
            <a:r>
              <a:t>% of generated milestones traceable to project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417320"/>
            <a:ext cx="342900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09160" y="1783080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C6892A"/>
                </a:solidFill>
              </a:defRPr>
            </a:pPr>
            <a:r>
              <a:t>RISK RELEVANCE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2560320"/>
            <a:ext cx="2743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122036"/>
                </a:solidFill>
              </a:defRPr>
            </a:pPr>
            <a:r>
              <a:t>% of identified risks that are project-specific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417320"/>
            <a:ext cx="342900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0" y="1783080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39845B"/>
                </a:solidFill>
              </a:defRPr>
            </a:pPr>
            <a:r>
              <a:t>STATUS ACCURACY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2560320"/>
            <a:ext cx="2743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122036"/>
                </a:solidFill>
              </a:defRPr>
            </a:pPr>
            <a:r>
              <a:t>% of reported task counts matching the Kanban 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9204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A66AD"/>
                </a:solidFill>
              </a:defRPr>
            </a:pPr>
            <a:r>
              <a:t>Recommended operating principle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349240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900" b="1">
                <a:solidFill>
                  <a:srgbClr val="122036"/>
                </a:solidFill>
              </a:defRPr>
            </a:pPr>
            <a:r>
              <a:t>Measure accuracy and grounding before optimizing for response speed or breadth.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66AD"/>
          </a:solidFill>
          <a:ln>
            <a:solidFill>
              <a:srgbClr val="2A66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22036"/>
                </a:solidFill>
              </a:defRPr>
            </a:pPr>
            <a:r>
              <a:t>Verified Status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82880"/>
            <a:ext cx="2743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A66AD"/>
                </a:solidFill>
              </a:defRPr>
            </a:pPr>
            <a:r>
              <a:t>PROJECT TRUTH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C6978"/>
                </a:solidFill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19659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1965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100" b="1">
                <a:solidFill>
                  <a:srgbClr val="122036"/>
                </a:solidFill>
              </a:defRPr>
            </a:pPr>
            <a: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06040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C6978"/>
                </a:solidFill>
              </a:defRPr>
            </a:pPr>
            <a:r>
              <a:t>TOTAL TASKS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1417320"/>
            <a:ext cx="19659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88920" y="1783080"/>
            <a:ext cx="1965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100" b="1">
                <a:solidFill>
                  <a:srgbClr val="39845B"/>
                </a:solidFill>
              </a:defRPr>
            </a:pPr>
            <a: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606040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C6978"/>
                </a:solidFill>
              </a:defRPr>
            </a:pPr>
            <a:r>
              <a:t>DONE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1417320"/>
            <a:ext cx="19659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74920" y="1783080"/>
            <a:ext cx="1965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100" b="1">
                <a:solidFill>
                  <a:srgbClr val="2A66AD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59" y="2606040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C6978"/>
                </a:solidFill>
              </a:defRPr>
            </a:pPr>
            <a:r>
              <a:t>IN PROGRESS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1417320"/>
            <a:ext cx="19659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60920" y="1783080"/>
            <a:ext cx="1965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100" b="1">
                <a:solidFill>
                  <a:srgbClr val="5C6978"/>
                </a:solidFill>
              </a:defRPr>
            </a:pPr>
            <a: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2606040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C6978"/>
                </a:solidFill>
              </a:defRPr>
            </a:pPr>
            <a:r>
              <a:t>TODO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46920" y="1417320"/>
            <a:ext cx="19659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46920" y="1783080"/>
            <a:ext cx="1965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100" b="1">
                <a:solidFill>
                  <a:srgbClr val="B24646"/>
                </a:solidFill>
              </a:defRPr>
            </a:pPr>
            <a: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2606040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C6978"/>
                </a:solidFill>
              </a:defRPr>
            </a:pPr>
            <a:r>
              <a:t>BLOCKED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28800" y="4069080"/>
            <a:ext cx="8549640" cy="96012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011680" y="4370832"/>
            <a:ext cx="81838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B24646"/>
                </a:solidFill>
              </a:defRPr>
            </a:pPr>
            <a:r>
              <a:t>T024  •  Approve rollout recommendation  •  BLOCKED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5532120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5C6978"/>
                </a:solidFill>
              </a:defRPr>
            </a:pPr>
            <a:r>
              <a:t>These values are the Kanban source-of-truth counts used by Mira's status capability.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66AD"/>
          </a:solidFill>
          <a:ln>
            <a:solidFill>
              <a:srgbClr val="2A66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22036"/>
                </a:solidFill>
              </a:defRPr>
            </a:pPr>
            <a:r>
              <a:t>Observability &amp; Cost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82880"/>
            <a:ext cx="2743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A66AD"/>
                </a:solidFill>
              </a:defRPr>
            </a:pPr>
            <a:r>
              <a:t>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C6978"/>
                </a:solidFill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2578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73152" cy="3566160"/>
          </a:xfrm>
          <a:prstGeom prst="rect">
            <a:avLst/>
          </a:prstGeom>
          <a:solidFill>
            <a:srgbClr val="238B8F"/>
          </a:solidFill>
          <a:ln>
            <a:solidFill>
              <a:srgbClr val="238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490472"/>
            <a:ext cx="48463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22036"/>
                </a:solidFill>
              </a:defRPr>
            </a:pPr>
            <a:r>
              <a:t>OBSERVABILITY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947672"/>
            <a:ext cx="4846320" cy="2816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C6978"/>
                </a:solidFill>
              </a:defRPr>
            </a:pPr>
            <a:r>
              <a:t>n8n execution logs provide evidence of successful workflow runs, node execution and outputs.</a:t>
            </a:r>
            <a:br/>
            <a:br/>
            <a:r>
              <a:t>Future enhancement: Langfuse or LangWatch for centralized traces, latency, token and cost analysis.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2578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325880"/>
            <a:ext cx="73152" cy="3566160"/>
          </a:xfrm>
          <a:prstGeom prst="rect">
            <a:avLst/>
          </a:prstGeom>
          <a:solidFill>
            <a:srgbClr val="2A66AD"/>
          </a:solidFill>
          <a:ln>
            <a:solidFill>
              <a:srgbClr val="2A66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490472"/>
            <a:ext cx="48463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22036"/>
                </a:solidFill>
              </a:defRPr>
            </a:pPr>
            <a:r>
              <a:t>COST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947672"/>
            <a:ext cx="4846320" cy="2816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C6978"/>
                </a:solidFill>
              </a:defRPr>
            </a:pPr>
            <a:r>
              <a:t>Current model: gpt-5-mini for capability and reliability.</a:t>
            </a:r>
            <a:br/>
            <a:br/>
            <a:r>
              <a:t>Main cost driver: repeated project context and long prompts.</a:t>
            </a:r>
            <a:br/>
            <a:br/>
            <a:r>
              <a:t>Optimization levers: shorter prompts, reused/cached context and smaller models where quality permits.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4406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22036"/>
                </a:solidFill>
              </a:defRPr>
            </a:pPr>
            <a:r>
              <a:t>Submission evidence includes observability screenshot and a dedicated Cost Analysis document.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66AD"/>
          </a:solidFill>
          <a:ln>
            <a:solidFill>
              <a:srgbClr val="2A66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22036"/>
                </a:solidFill>
              </a:defRPr>
            </a:pPr>
            <a:r>
              <a:t>Business Value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82880"/>
            <a:ext cx="2743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A66AD"/>
                </a:solidFill>
              </a:defRPr>
            </a:pPr>
            <a: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C6978"/>
                </a:solidFill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A66AD"/>
                </a:solidFill>
              </a:defRPr>
            </a:pPr>
            <a:r>
              <a:t>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47548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32D3A"/>
                </a:solidFill>
              </a:defRPr>
            </a:pPr>
            <a:r>
              <a:t>Grounded project-plan generation</a:t>
            </a:r>
          </a:p>
          <a:p>
            <a:pPr>
              <a:spcAft>
                <a:spcPts val="1200"/>
              </a:spcAft>
              <a:defRPr sz="1500">
                <a:solidFill>
                  <a:srgbClr val="232D3A"/>
                </a:solidFill>
              </a:defRPr>
            </a:pPr>
            <a:r>
              <a:t>Risk assessment from official risk data</a:t>
            </a:r>
          </a:p>
          <a:p>
            <a:pPr>
              <a:spcAft>
                <a:spcPts val="1200"/>
              </a:spcAft>
              <a:defRPr sz="1500">
                <a:solidFill>
                  <a:srgbClr val="232D3A"/>
                </a:solidFill>
              </a:defRPr>
            </a:pPr>
            <a:r>
              <a:t>Weekly status reporting</a:t>
            </a:r>
          </a:p>
          <a:p>
            <a:pPr>
              <a:spcAft>
                <a:spcPts val="1200"/>
              </a:spcAft>
              <a:defRPr sz="1500">
                <a:solidFill>
                  <a:srgbClr val="232D3A"/>
                </a:solidFill>
              </a:defRPr>
            </a:pPr>
            <a:r>
              <a:t>Router + specialist-agent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23444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38B8F"/>
                </a:solidFill>
              </a:defRPr>
            </a:pPr>
            <a:r>
              <a:t>NEXT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64592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32D3A"/>
                </a:solidFill>
              </a:defRPr>
            </a:pPr>
            <a:r>
              <a:t>Live project-system integrations</a:t>
            </a:r>
          </a:p>
          <a:p>
            <a:pPr>
              <a:spcAft>
                <a:spcPts val="1200"/>
              </a:spcAft>
              <a:defRPr sz="1500">
                <a:solidFill>
                  <a:srgbClr val="232D3A"/>
                </a:solidFill>
              </a:defRPr>
            </a:pPr>
            <a:r>
              <a:t>Milestone alert system</a:t>
            </a:r>
          </a:p>
          <a:p>
            <a:pPr>
              <a:spcAft>
                <a:spcPts val="1200"/>
              </a:spcAft>
              <a:defRPr sz="1500">
                <a:solidFill>
                  <a:srgbClr val="232D3A"/>
                </a:solidFill>
              </a:defRPr>
            </a:pPr>
            <a:r>
              <a:t>Stakeholder update generator</a:t>
            </a:r>
          </a:p>
          <a:p>
            <a:pPr>
              <a:spcAft>
                <a:spcPts val="1200"/>
              </a:spcAft>
              <a:defRPr sz="1500">
                <a:solidFill>
                  <a:srgbClr val="232D3A"/>
                </a:solidFill>
              </a:defRPr>
            </a:pPr>
            <a:r>
              <a:t>Resource allocation advisor</a:t>
            </a:r>
          </a:p>
          <a:p>
            <a:pPr>
              <a:spcAft>
                <a:spcPts val="1200"/>
              </a:spcAft>
              <a:defRPr sz="1500">
                <a:solidFill>
                  <a:srgbClr val="232D3A"/>
                </a:solidFill>
              </a:defRPr>
            </a:pPr>
            <a:r>
              <a:t>Automated regression evaluation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349240"/>
            <a:ext cx="10241280" cy="594360"/>
          </a:xfrm>
          <a:prstGeom prst="roundRect">
            <a:avLst/>
          </a:prstGeom>
          <a:solidFill>
            <a:srgbClr val="122036"/>
          </a:solidFill>
          <a:ln>
            <a:solidFill>
              <a:srgbClr val="1220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5532120"/>
            <a:ext cx="9784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Mira turns project data into decision-ready intelligence — with grounding as a design constraint.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66AD"/>
          </a:solidFill>
          <a:ln>
            <a:solidFill>
              <a:srgbClr val="2A66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22036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82880"/>
            <a:ext cx="2743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A66AD"/>
                </a:solidFill>
              </a:defRPr>
            </a:pPr>
            <a:r>
              <a:t>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C6978"/>
                </a:solidFill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700" b="1">
                <a:solidFill>
                  <a:srgbClr val="122036"/>
                </a:solidFill>
              </a:defRPr>
            </a:pPr>
            <a:r>
              <a:t>Mira demonstrates a practical agentic AI pattern for PM/TPM workflows.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423160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2A66AD"/>
                </a:solidFill>
              </a:defRPr>
            </a:pPr>
            <a:r>
              <a:t>Route the request → ground the answer → preserve project truth → return actionable intelligence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24688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3429000"/>
            <a:ext cx="73152" cy="1600200"/>
          </a:xfrm>
          <a:prstGeom prst="rect">
            <a:avLst/>
          </a:prstGeom>
          <a:solidFill>
            <a:srgbClr val="2A66AD"/>
          </a:solidFill>
          <a:ln>
            <a:solidFill>
              <a:srgbClr val="2A66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3593592"/>
            <a:ext cx="2057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22036"/>
                </a:solidFill>
              </a:defRPr>
            </a:pPr>
            <a:r>
              <a:t>Grounded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050791"/>
            <a:ext cx="2057400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C6978"/>
                </a:solidFill>
              </a:defRPr>
            </a:pPr>
            <a:r>
              <a:t>Uses controlled project context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39" y="3429000"/>
            <a:ext cx="24688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520439" y="3429000"/>
            <a:ext cx="73152" cy="1600200"/>
          </a:xfrm>
          <a:prstGeom prst="rect">
            <a:avLst/>
          </a:prstGeom>
          <a:solidFill>
            <a:srgbClr val="238B8F"/>
          </a:solidFill>
          <a:ln>
            <a:solidFill>
              <a:srgbClr val="238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49039" y="3593592"/>
            <a:ext cx="2057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22036"/>
                </a:solidFill>
              </a:defRPr>
            </a:pPr>
            <a:r>
              <a:t>Modular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4050791"/>
            <a:ext cx="2057400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C6978"/>
                </a:solidFill>
              </a:defRPr>
            </a:pPr>
            <a:r>
              <a:t>Specialist agents by capability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3429000"/>
            <a:ext cx="24688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09359" y="3429000"/>
            <a:ext cx="73152" cy="1600200"/>
          </a:xfrm>
          <a:prstGeom prst="rect">
            <a:avLst/>
          </a:prstGeom>
          <a:solidFill>
            <a:srgbClr val="C6892A"/>
          </a:solidFill>
          <a:ln>
            <a:solidFill>
              <a:srgbClr val="C68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59" y="3593592"/>
            <a:ext cx="2057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22036"/>
                </a:solidFill>
              </a:defRPr>
            </a:pPr>
            <a:r>
              <a:t>Tested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59" y="4050791"/>
            <a:ext cx="2057400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C6978"/>
                </a:solidFill>
              </a:defRPr>
            </a:pPr>
            <a:r>
              <a:t>12-prompt baseline + hallucination checks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3429000"/>
            <a:ext cx="24688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098280" y="3429000"/>
            <a:ext cx="73152" cy="1600200"/>
          </a:xfrm>
          <a:prstGeom prst="rect">
            <a:avLst/>
          </a:prstGeom>
          <a:solidFill>
            <a:srgbClr val="39845B"/>
          </a:solidFill>
          <a:ln>
            <a:solidFill>
              <a:srgbClr val="39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26880" y="3593592"/>
            <a:ext cx="2057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22036"/>
                </a:solidFill>
              </a:defRPr>
            </a:pPr>
            <a:r>
              <a:t>Observable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4050791"/>
            <a:ext cx="2057400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C6978"/>
                </a:solidFill>
              </a:defRPr>
            </a:pPr>
            <a:r>
              <a:t>n8n execution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53212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5C6978"/>
                </a:solidFill>
              </a:defRPr>
            </a:pPr>
            <a:r>
              <a:t>Repository deliverables: workflow • dataset • architecture • write-up • cost analysis • testing evidence •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884</Words>
  <Application>Microsoft Office PowerPoint</Application>
  <PresentationFormat>Widescreen</PresentationFormat>
  <Paragraphs>170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Vayalanallur Rajagopal, Sivaganesh</cp:lastModifiedBy>
  <cp:revision>3</cp:revision>
  <dcterms:created xsi:type="dcterms:W3CDTF">2013-01-27T09:14:16Z</dcterms:created>
  <dcterms:modified xsi:type="dcterms:W3CDTF">2026-09-09T14:59:00Z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5394ae5-69af-439d-af88-cb521c31c0c5_Enabled">
    <vt:lpwstr>true</vt:lpwstr>
  </property>
  <property fmtid="{D5CDD505-2E9C-101B-9397-08002B2CF9AE}" pid="3" name="MSIP_Label_15394ae5-69af-439d-af88-cb521c31c0c5_SetDate">
    <vt:lpwstr>2026-09-09T14:57:53Z</vt:lpwstr>
  </property>
  <property fmtid="{D5CDD505-2E9C-101B-9397-08002B2CF9AE}" pid="4" name="MSIP_Label_15394ae5-69af-439d-af88-cb521c31c0c5_Method">
    <vt:lpwstr>Standard</vt:lpwstr>
  </property>
  <property fmtid="{D5CDD505-2E9C-101B-9397-08002B2CF9AE}" pid="5" name="MSIP_Label_15394ae5-69af-439d-af88-cb521c31c0c5_Name">
    <vt:lpwstr>DXC Internal</vt:lpwstr>
  </property>
  <property fmtid="{D5CDD505-2E9C-101B-9397-08002B2CF9AE}" pid="6" name="MSIP_Label_15394ae5-69af-439d-af88-cb521c31c0c5_SiteId">
    <vt:lpwstr>93f33571-550f-43cf-b09f-cd331338d086</vt:lpwstr>
  </property>
  <property fmtid="{D5CDD505-2E9C-101B-9397-08002B2CF9AE}" pid="7" name="MSIP_Label_15394ae5-69af-439d-af88-cb521c31c0c5_ActionId">
    <vt:lpwstr>bdba7634-ccbf-4810-9194-1566f3ae57db</vt:lpwstr>
  </property>
  <property fmtid="{D5CDD505-2E9C-101B-9397-08002B2CF9AE}" pid="8" name="MSIP_Label_15394ae5-69af-439d-af88-cb521c31c0c5_ContentBits">
    <vt:lpwstr>0</vt:lpwstr>
  </property>
  <property fmtid="{D5CDD505-2E9C-101B-9397-08002B2CF9AE}" pid="9" name="MSIP_Label_15394ae5-69af-439d-af88-cb521c31c0c5_Tag">
    <vt:lpwstr>10, 3, 0, 1</vt:lpwstr>
  </property>
</Properties>
</file>