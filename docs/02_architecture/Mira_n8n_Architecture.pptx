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380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</a:rPr>
              <a:t>Mira Project Intelligence Assistant — n8n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2057400" cy="822960"/>
          </a:xfrm>
          <a:prstGeom prst="roundRect">
            <a:avLst/>
          </a:prstGeom>
          <a:solidFill>
            <a:srgbClr val="2D2D2D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Weekly Status Report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2240280"/>
            <a:ext cx="2148840" cy="822960"/>
          </a:xfrm>
          <a:prstGeom prst="roundRect">
            <a:avLst/>
          </a:prstGeom>
          <a:solidFill>
            <a:srgbClr val="2D2D2D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Risk Assessment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960120"/>
            <a:ext cx="2103120" cy="822960"/>
          </a:xfrm>
          <a:prstGeom prst="roundRect">
            <a:avLst/>
          </a:prstGeom>
          <a:solidFill>
            <a:srgbClr val="2D2D2D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Mira 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2240280"/>
            <a:ext cx="2057400" cy="822960"/>
          </a:xfrm>
          <a:prstGeom prst="roundRect">
            <a:avLst/>
          </a:prstGeom>
          <a:solidFill>
            <a:srgbClr val="2D2D2D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AI Agent</a:t>
            </a:r>
          </a:p>
          <a:p>
            <a:pPr algn="ctr"/>
            <a:r>
              <a:rPr sz="900">
                <a:solidFill>
                  <a:srgbClr val="B4B4B4"/>
                </a:solidFill>
              </a:rPr>
              <a:t>kept as backup/orchestrator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24360" y="960120"/>
            <a:ext cx="2011680" cy="822960"/>
          </a:xfrm>
          <a:prstGeom prst="roundRect">
            <a:avLst/>
          </a:prstGeom>
          <a:solidFill>
            <a:srgbClr val="2D2D2D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Project Plan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3246120"/>
            <a:ext cx="1143000" cy="822960"/>
          </a:xfrm>
          <a:prstGeom prst="roundRect">
            <a:avLst/>
          </a:prstGeom>
          <a:solidFill>
            <a:srgbClr val="2D2D2D"/>
          </a:solidFill>
          <a:ln w="25400">
            <a:solidFill>
              <a:srgbClr val="00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Chat Trigger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24360" y="3246120"/>
            <a:ext cx="2011680" cy="822960"/>
          </a:xfrm>
          <a:prstGeom prst="roundRect">
            <a:avLst/>
          </a:prstGeom>
          <a:solidFill>
            <a:srgbClr val="2D2D2D"/>
          </a:solidFill>
          <a:ln w="25400">
            <a:solidFill>
              <a:srgbClr val="00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Edit Fields</a:t>
            </a:r>
          </a:p>
          <a:p>
            <a:pPr algn="ctr"/>
            <a:r>
              <a:rPr sz="900">
                <a:solidFill>
                  <a:srgbClr val="B4B4B4"/>
                </a:solidFill>
              </a:rPr>
              <a:t>Manual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4709160"/>
            <a:ext cx="1097280" cy="1143000"/>
          </a:xfrm>
          <a:prstGeom prst="roundRect">
            <a:avLst/>
          </a:prstGeom>
          <a:solidFill>
            <a:srgbClr val="2D2D2D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Switch</a:t>
            </a:r>
          </a:p>
          <a:p>
            <a:pPr algn="ctr"/>
            <a:r>
              <a:rPr sz="900">
                <a:solidFill>
                  <a:srgbClr val="B4B4B4"/>
                </a:solidFill>
              </a:rPr>
              <a:t>Expression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11312" y="3657600"/>
            <a:ext cx="3813048" cy="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30200" y="1828800"/>
            <a:ext cx="0" cy="141732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55480" y="1371600"/>
            <a:ext cx="2468880" cy="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55480" y="1783080"/>
            <a:ext cx="502920" cy="86868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3063240"/>
            <a:ext cx="0" cy="164592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949440" y="5303520"/>
            <a:ext cx="3108960" cy="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49440" y="2651760"/>
            <a:ext cx="0" cy="265176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600200" y="5303520"/>
            <a:ext cx="5349240" cy="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00200" y="2651760"/>
            <a:ext cx="0" cy="265176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86400" y="822960"/>
            <a:ext cx="960120" cy="960120"/>
          </a:xfrm>
          <a:prstGeom prst="ellipse">
            <a:avLst/>
          </a:prstGeom>
          <a:solidFill>
            <a:srgbClr val="323232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F0F0"/>
                </a:solidFill>
              </a:rPr>
              <a:t>AI
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81051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BEBEBE"/>
                </a:solidFill>
              </a:rPr>
              <a:t>OpenAI Chat Model4</a:t>
            </a:r>
          </a:p>
        </p:txBody>
      </p:sp>
      <p:sp>
        <p:nvSpPr>
          <p:cNvPr id="22" name="Oval 21"/>
          <p:cNvSpPr/>
          <p:nvPr/>
        </p:nvSpPr>
        <p:spPr>
          <a:xfrm>
            <a:off x="3749039" y="4251960"/>
            <a:ext cx="960120" cy="960120"/>
          </a:xfrm>
          <a:prstGeom prst="ellipse">
            <a:avLst/>
          </a:prstGeom>
          <a:solidFill>
            <a:srgbClr val="323232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F0F0"/>
                </a:solidFill>
              </a:rPr>
              <a:t>AI
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8999" y="523951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BEBEBE"/>
                </a:solidFill>
              </a:rPr>
              <a:t>OpenAI Chat Model1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806440"/>
            <a:ext cx="960120" cy="960120"/>
          </a:xfrm>
          <a:prstGeom prst="ellipse">
            <a:avLst/>
          </a:prstGeom>
          <a:solidFill>
            <a:srgbClr val="323232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F0F0"/>
                </a:solidFill>
              </a:rPr>
              <a:t>AI
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79399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BEBEBE"/>
                </a:solidFill>
              </a:rPr>
              <a:t>OpenAI Chat Model2</a:t>
            </a:r>
          </a:p>
        </p:txBody>
      </p:sp>
      <p:sp>
        <p:nvSpPr>
          <p:cNvPr id="26" name="Oval 25"/>
          <p:cNvSpPr/>
          <p:nvPr/>
        </p:nvSpPr>
        <p:spPr>
          <a:xfrm>
            <a:off x="12893040" y="3566160"/>
            <a:ext cx="960120" cy="960120"/>
          </a:xfrm>
          <a:prstGeom prst="ellipse">
            <a:avLst/>
          </a:prstGeom>
          <a:solidFill>
            <a:srgbClr val="323232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F0F0"/>
                </a:solidFill>
              </a:rPr>
              <a:t>AI
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0" y="455371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BEBEBE"/>
                </a:solidFill>
              </a:rPr>
              <a:t>OpenAI Chat Model3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46520" y="1280160"/>
            <a:ext cx="1005840" cy="0"/>
          </a:xfrm>
          <a:prstGeom prst="line">
            <a:avLst/>
          </a:prstGeom>
          <a:ln w="2032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09160" y="3063240"/>
            <a:ext cx="1143000" cy="1508760"/>
          </a:xfrm>
          <a:prstGeom prst="line">
            <a:avLst/>
          </a:prstGeom>
          <a:ln w="2032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325880" y="2651760"/>
            <a:ext cx="274320" cy="3154680"/>
          </a:xfrm>
          <a:prstGeom prst="line">
            <a:avLst/>
          </a:prstGeom>
          <a:ln w="2032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3030200" y="1783080"/>
            <a:ext cx="365760" cy="1783080"/>
          </a:xfrm>
          <a:prstGeom prst="line">
            <a:avLst/>
          </a:prstGeom>
          <a:ln w="2032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46120" y="5715000"/>
            <a:ext cx="5212080" cy="1554480"/>
          </a:xfrm>
          <a:prstGeom prst="roundRect">
            <a:avLst/>
          </a:prstGeom>
          <a:solidFill>
            <a:srgbClr val="232323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5"/>
                </a:solidFill>
              </a:rPr>
              <a:t>Project Dataset / Grounding Data</a:t>
            </a:r>
          </a:p>
          <a:p>
            <a:pPr algn="ctr"/>
            <a:r>
              <a:rPr sz="1000">
                <a:solidFill>
                  <a:srgbClr val="BEBEBE"/>
                </a:solidFill>
              </a:rPr>
              <a:t>Project Description</a:t>
            </a:r>
          </a:p>
          <a:p>
            <a:pPr algn="ctr"/>
            <a:r>
              <a:rPr sz="1000">
                <a:solidFill>
                  <a:srgbClr val="BEBEBE"/>
                </a:solidFill>
              </a:rPr>
              <a:t>Timeline / Milestones</a:t>
            </a:r>
          </a:p>
          <a:p>
            <a:pPr algn="ctr"/>
            <a:r>
              <a:rPr sz="1000">
                <a:solidFill>
                  <a:srgbClr val="BEBEBE"/>
                </a:solidFill>
              </a:rPr>
              <a:t>Risk Matrix</a:t>
            </a:r>
          </a:p>
          <a:p>
            <a:pPr algn="ctr"/>
            <a:r>
              <a:rPr sz="1000">
                <a:solidFill>
                  <a:srgbClr val="BEBEBE"/>
                </a:solidFill>
              </a:rPr>
              <a:t>Kanban Board (25 tasks; T024 = Blocked)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8458200" y="5303520"/>
            <a:ext cx="1600200" cy="1188720"/>
          </a:xfrm>
          <a:prstGeom prst="line">
            <a:avLst/>
          </a:prstGeom>
          <a:ln w="2032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44000" y="6537960"/>
            <a:ext cx="2743200" cy="731520"/>
          </a:xfrm>
          <a:prstGeom prst="roundRect">
            <a:avLst/>
          </a:prstGeom>
          <a:solidFill>
            <a:srgbClr val="2D2D2D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</a:rPr>
              <a:t>n8n Executions / Logs</a:t>
            </a:r>
          </a:p>
          <a:p>
            <a:pPr algn="ctr"/>
            <a:r>
              <a:rPr sz="900">
                <a:solidFill>
                  <a:srgbClr val="B4B4B4"/>
                </a:solidFill>
              </a:rPr>
              <a:t>Tokens • latency • node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76352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FAFAF"/>
                </a:solidFill>
              </a:rPr>
              <a:t>Routing: Project Plan Generation → Project Plan Agent | Risk Assessment → Risk Assessment Agent | Weekly Status Report → Weekly Status Report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